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269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30B2-BA9F-4883-8FB1-B0B495F21520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0A27-8796-423C-B9C9-0FBC5FE0B4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386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30B2-BA9F-4883-8FB1-B0B495F21520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0A27-8796-423C-B9C9-0FBC5FE0B4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911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30B2-BA9F-4883-8FB1-B0B495F21520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0A27-8796-423C-B9C9-0FBC5FE0B4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373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30B2-BA9F-4883-8FB1-B0B495F21520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0A27-8796-423C-B9C9-0FBC5FE0B4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38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30B2-BA9F-4883-8FB1-B0B495F21520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0A27-8796-423C-B9C9-0FBC5FE0B4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3562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30B2-BA9F-4883-8FB1-B0B495F21520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0A27-8796-423C-B9C9-0FBC5FE0B4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574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30B2-BA9F-4883-8FB1-B0B495F21520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0A27-8796-423C-B9C9-0FBC5FE0B4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680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30B2-BA9F-4883-8FB1-B0B495F21520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0A27-8796-423C-B9C9-0FBC5FE0B4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1763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30B2-BA9F-4883-8FB1-B0B495F21520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0A27-8796-423C-B9C9-0FBC5FE0B4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081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30B2-BA9F-4883-8FB1-B0B495F21520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0A27-8796-423C-B9C9-0FBC5FE0B4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7538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30B2-BA9F-4883-8FB1-B0B495F21520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0A27-8796-423C-B9C9-0FBC5FE0B4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9104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930B2-BA9F-4883-8FB1-B0B495F21520}" type="datetimeFigureOut">
              <a:rPr lang="ru-RU" smtClean="0"/>
              <a:t>17.05.2021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10A27-8796-423C-B9C9-0FBC5FE0B4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3059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9576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841" y="668025"/>
            <a:ext cx="9491932" cy="42451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011663" y="1362974"/>
            <a:ext cx="2863971" cy="7504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Построим модель АЦП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671247" y="2113472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Индикаторы берем из вкладки </a:t>
            </a:r>
            <a:r>
              <a:rPr lang="en-US" dirty="0" smtClean="0"/>
              <a:t>Meters – Logic Indicator</a:t>
            </a:r>
            <a:endParaRPr lang="ru-RU" dirty="0"/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5029200" y="2651509"/>
            <a:ext cx="810883" cy="4766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3232030" y="2921155"/>
            <a:ext cx="675736" cy="5121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5132419" y="2413169"/>
            <a:ext cx="2484706" cy="8907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9153105" y="4855087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Батарейки берем из вкладки </a:t>
            </a:r>
            <a:r>
              <a:rPr lang="en-US" dirty="0" smtClean="0"/>
              <a:t>Sources – Battery</a:t>
            </a:r>
            <a:endParaRPr lang="ru-RU" dirty="0"/>
          </a:p>
        </p:txBody>
      </p:sp>
      <p:cxnSp>
        <p:nvCxnSpPr>
          <p:cNvPr id="15" name="Прямая со стрелкой 14"/>
          <p:cNvCxnSpPr/>
          <p:nvPr/>
        </p:nvCxnSpPr>
        <p:spPr>
          <a:xfrm flipH="1" flipV="1">
            <a:off x="10153291" y="2921155"/>
            <a:ext cx="112144" cy="17371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3443377" y="5536574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Микросхемы </a:t>
            </a:r>
            <a:r>
              <a:rPr lang="en-US" dirty="0" smtClean="0"/>
              <a:t>JK</a:t>
            </a:r>
            <a:r>
              <a:rPr lang="ru-RU" dirty="0" smtClean="0"/>
              <a:t> берем из вкладки </a:t>
            </a:r>
            <a:r>
              <a:rPr lang="en-US" dirty="0" smtClean="0"/>
              <a:t>Flip-flops – JK </a:t>
            </a:r>
            <a:r>
              <a:rPr lang="en-US" dirty="0" err="1" smtClean="0"/>
              <a:t>FlipFlop</a:t>
            </a:r>
            <a:endParaRPr lang="ru-RU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 flipH="1" flipV="1">
            <a:off x="2596551" y="4454890"/>
            <a:ext cx="846826" cy="9538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flipV="1">
            <a:off x="4408098" y="4454891"/>
            <a:ext cx="60385" cy="10229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 flipV="1">
            <a:off x="5433204" y="4658265"/>
            <a:ext cx="1479789" cy="7504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671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15" y="646980"/>
            <a:ext cx="10678627" cy="394997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328183" y="4502989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Получили модель суммирующего счетчика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5628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44" y="283149"/>
            <a:ext cx="10199298" cy="524638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344771" y="4753152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Добавили схему ЦАП</a:t>
            </a:r>
            <a:endParaRPr lang="ru-RU" dirty="0"/>
          </a:p>
        </p:txBody>
      </p:sp>
      <p:cxnSp>
        <p:nvCxnSpPr>
          <p:cNvPr id="6" name="Прямая со стрелкой 5"/>
          <p:cNvCxnSpPr/>
          <p:nvPr/>
        </p:nvCxnSpPr>
        <p:spPr>
          <a:xfrm flipH="1" flipV="1">
            <a:off x="2398146" y="4692762"/>
            <a:ext cx="802255" cy="4485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370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29" y="437626"/>
            <a:ext cx="10041067" cy="558361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870318" y="5244861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Добавили схему компаратора</a:t>
            </a:r>
            <a:endParaRPr lang="ru-RU" dirty="0"/>
          </a:p>
        </p:txBody>
      </p:sp>
      <p:cxnSp>
        <p:nvCxnSpPr>
          <p:cNvPr id="6" name="Прямая со стрелкой 5"/>
          <p:cNvCxnSpPr/>
          <p:nvPr/>
        </p:nvCxnSpPr>
        <p:spPr>
          <a:xfrm flipV="1">
            <a:off x="6202394" y="4839419"/>
            <a:ext cx="1216323" cy="4054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9333781" y="5466272"/>
            <a:ext cx="2712167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Добавили генератор импульсов</a:t>
            </a:r>
            <a:endParaRPr lang="ru-RU" dirty="0"/>
          </a:p>
        </p:txBody>
      </p:sp>
      <p:cxnSp>
        <p:nvCxnSpPr>
          <p:cNvPr id="10" name="Прямая со стрелкой 9"/>
          <p:cNvCxnSpPr/>
          <p:nvPr/>
        </p:nvCxnSpPr>
        <p:spPr>
          <a:xfrm flipH="1" flipV="1">
            <a:off x="10515600" y="2881223"/>
            <a:ext cx="514778" cy="23636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108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279" y="499873"/>
            <a:ext cx="9681713" cy="513712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354960" y="4697523"/>
            <a:ext cx="2616680" cy="10688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Получили модель АЦП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6760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07" y="750039"/>
            <a:ext cx="9681713" cy="513712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001328" y="4881747"/>
            <a:ext cx="2262945" cy="100541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Рассмотрим работу блоков АЦП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7009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105" y="715533"/>
            <a:ext cx="9681713" cy="5137125"/>
          </a:xfrm>
          <a:prstGeom prst="rect">
            <a:avLst/>
          </a:prstGeom>
        </p:spPr>
      </p:pic>
      <p:sp>
        <p:nvSpPr>
          <p:cNvPr id="5" name="Скругленный прямоугольник 4"/>
          <p:cNvSpPr/>
          <p:nvPr/>
        </p:nvSpPr>
        <p:spPr>
          <a:xfrm>
            <a:off x="2872596" y="1664898"/>
            <a:ext cx="5831457" cy="148374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/>
          <p:nvPr/>
        </p:nvCxnSpPr>
        <p:spPr>
          <a:xfrm flipV="1">
            <a:off x="3812875" y="3347049"/>
            <a:ext cx="1544129" cy="155274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16147" y="4971096"/>
            <a:ext cx="7592684" cy="11967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Счетчик подсчитывает число пришедших от генератора импульсов.</a:t>
            </a:r>
          </a:p>
          <a:p>
            <a:pPr algn="ctr"/>
            <a:r>
              <a:rPr lang="ru-RU" dirty="0" smtClean="0"/>
              <a:t>Отслеживать это количество можно через индикаторы A0..A7, </a:t>
            </a:r>
          </a:p>
          <a:p>
            <a:pPr algn="ctr"/>
            <a:r>
              <a:rPr lang="ru-RU" dirty="0" smtClean="0"/>
              <a:t>причем A0 (справа) соответствует наименьшему разряду данного двоичного числа, A7 (слева) - наибольшему.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8322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07" y="750039"/>
            <a:ext cx="9681713" cy="513712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656271" y="5179798"/>
            <a:ext cx="4830793" cy="7073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ЦАП преобразует пришедший двоичный код в соответствующее напряжение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776377" y="3027872"/>
            <a:ext cx="1785668" cy="199270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 стрелкой 8"/>
          <p:cNvCxnSpPr/>
          <p:nvPr/>
        </p:nvCxnSpPr>
        <p:spPr>
          <a:xfrm flipH="1" flipV="1">
            <a:off x="2665562" y="4114800"/>
            <a:ext cx="1069676" cy="992038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012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07" y="750039"/>
            <a:ext cx="9681713" cy="513712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2144" y="5128039"/>
            <a:ext cx="6047116" cy="1518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Компаратор сравнивает напряжение ЦАП </a:t>
            </a:r>
          </a:p>
          <a:p>
            <a:pPr algn="ctr"/>
            <a:r>
              <a:rPr lang="ru-RU" dirty="0" smtClean="0"/>
              <a:t>(=сигнал сравнения) со значением заданного напряжения</a:t>
            </a:r>
          </a:p>
          <a:p>
            <a:pPr algn="ctr"/>
            <a:r>
              <a:rPr lang="ru-RU" dirty="0" smtClean="0"/>
              <a:t>(=входной сигнал). Выходной сигнал будет положительным,</a:t>
            </a:r>
          </a:p>
          <a:p>
            <a:pPr algn="ctr"/>
            <a:r>
              <a:rPr lang="ru-RU" dirty="0" smtClean="0"/>
              <a:t>пока значение входного сигнала больше значения </a:t>
            </a:r>
          </a:p>
          <a:p>
            <a:pPr algn="ctr"/>
            <a:r>
              <a:rPr lang="ru-RU" dirty="0" smtClean="0"/>
              <a:t>сигнала сравнения. 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349042" y="3318601"/>
            <a:ext cx="2924354" cy="292692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/>
          <p:nvPr/>
        </p:nvCxnSpPr>
        <p:spPr>
          <a:xfrm flipV="1">
            <a:off x="3416060" y="4235570"/>
            <a:ext cx="2708695" cy="724619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156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07" y="750039"/>
            <a:ext cx="9681713" cy="513712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2144" y="5128039"/>
            <a:ext cx="6047116" cy="1518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Соответственно, компаратор управляет</a:t>
            </a:r>
          </a:p>
          <a:p>
            <a:pPr algn="ctr"/>
            <a:r>
              <a:rPr lang="ru-RU" dirty="0" smtClean="0"/>
              <a:t>работой счетчика через логический элемент И.</a:t>
            </a:r>
          </a:p>
          <a:p>
            <a:pPr algn="ctr"/>
            <a:r>
              <a:rPr lang="ru-RU" dirty="0" smtClean="0"/>
              <a:t>Работа счетчика прекратится, когда выходной сигнал </a:t>
            </a:r>
          </a:p>
          <a:p>
            <a:pPr algn="ctr"/>
            <a:r>
              <a:rPr lang="ru-RU" dirty="0" smtClean="0"/>
              <a:t>компаратора станет отрицательным, т.е.</a:t>
            </a:r>
          </a:p>
          <a:p>
            <a:pPr algn="ctr"/>
            <a:r>
              <a:rPr lang="ru-RU" dirty="0" smtClean="0"/>
              <a:t>сигнал сравнения превзойдет значение входного сигнала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349042" y="3318601"/>
            <a:ext cx="2924354" cy="292692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/>
          <p:nvPr/>
        </p:nvCxnSpPr>
        <p:spPr>
          <a:xfrm flipV="1">
            <a:off x="3416060" y="4235570"/>
            <a:ext cx="2708695" cy="724619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Скругленный прямоугольник 1"/>
          <p:cNvSpPr/>
          <p:nvPr/>
        </p:nvSpPr>
        <p:spPr>
          <a:xfrm>
            <a:off x="8186468" y="2441275"/>
            <a:ext cx="707366" cy="57797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 стрелкой 6"/>
          <p:cNvCxnSpPr/>
          <p:nvPr/>
        </p:nvCxnSpPr>
        <p:spPr>
          <a:xfrm flipV="1">
            <a:off x="2576423" y="2576730"/>
            <a:ext cx="5489275" cy="2383459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681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47" y="314277"/>
            <a:ext cx="10697123" cy="5689707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 flipV="1">
            <a:off x="2881223" y="905774"/>
            <a:ext cx="1173192" cy="42700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V="1">
            <a:off x="3956650" y="3269411"/>
            <a:ext cx="6041365" cy="23205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4813723" y="5822829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Задаем входной сигнал 1 В.</a:t>
            </a:r>
            <a:endParaRPr lang="ru-RU" dirty="0"/>
          </a:p>
        </p:txBody>
      </p:sp>
      <p:cxnSp>
        <p:nvCxnSpPr>
          <p:cNvPr id="11" name="Прямая со стрелкой 10"/>
          <p:cNvCxnSpPr/>
          <p:nvPr/>
        </p:nvCxnSpPr>
        <p:spPr>
          <a:xfrm flipV="1">
            <a:off x="6150635" y="5421701"/>
            <a:ext cx="966158" cy="3105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8747368" y="5227607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Наблюдаем двоичный код.</a:t>
            </a:r>
            <a:endParaRPr lang="ru-RU" dirty="0"/>
          </a:p>
        </p:txBody>
      </p:sp>
      <p:cxnSp>
        <p:nvCxnSpPr>
          <p:cNvPr id="13" name="Прямая со стрелкой 12"/>
          <p:cNvCxnSpPr/>
          <p:nvPr/>
        </p:nvCxnSpPr>
        <p:spPr>
          <a:xfrm flipH="1" flipV="1">
            <a:off x="5598543" y="2538322"/>
            <a:ext cx="3830130" cy="259870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Скругленный прямоугольник 15"/>
          <p:cNvSpPr/>
          <p:nvPr/>
        </p:nvSpPr>
        <p:spPr>
          <a:xfrm>
            <a:off x="2424023" y="2027208"/>
            <a:ext cx="5564037" cy="49170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4722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208" y="728842"/>
            <a:ext cx="7690558" cy="463678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405114" y="2984740"/>
            <a:ext cx="147511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Входной сигнал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770408" y="3717985"/>
            <a:ext cx="1440612" cy="621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Выходной сигнал</a:t>
            </a:r>
            <a:endParaRPr lang="ru-RU" dirty="0"/>
          </a:p>
        </p:txBody>
      </p:sp>
      <p:cxnSp>
        <p:nvCxnSpPr>
          <p:cNvPr id="8" name="Прямая со стрелкой 7"/>
          <p:cNvCxnSpPr/>
          <p:nvPr/>
        </p:nvCxnSpPr>
        <p:spPr>
          <a:xfrm flipH="1" flipV="1">
            <a:off x="5382883" y="2096219"/>
            <a:ext cx="1022231" cy="10265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H="1" flipV="1">
            <a:off x="3838755" y="2691441"/>
            <a:ext cx="1061049" cy="10265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6970143" y="1206895"/>
            <a:ext cx="2527540" cy="100541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Построим </a:t>
            </a:r>
            <a:r>
              <a:rPr lang="ru-RU" dirty="0" err="1" smtClean="0"/>
              <a:t>градуировочную</a:t>
            </a:r>
            <a:r>
              <a:rPr lang="ru-RU" dirty="0" smtClean="0"/>
              <a:t> кривую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9397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169</Words>
  <Application>Microsoft Office PowerPoint</Application>
  <PresentationFormat>Широкоэкранный</PresentationFormat>
  <Paragraphs>29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Ирина Шеховцова</dc:creator>
  <cp:lastModifiedBy>Ирина Шеховцова</cp:lastModifiedBy>
  <cp:revision>13</cp:revision>
  <dcterms:created xsi:type="dcterms:W3CDTF">2021-05-16T22:20:45Z</dcterms:created>
  <dcterms:modified xsi:type="dcterms:W3CDTF">2021-05-17T05:44:58Z</dcterms:modified>
</cp:coreProperties>
</file>