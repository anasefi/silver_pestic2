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8" r:id="rId12"/>
    <p:sldId id="267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9" d="100"/>
          <a:sy n="89" d="100"/>
        </p:scale>
        <p:origin x="46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930B2-BA9F-4883-8FB1-B0B495F21520}" type="datetimeFigureOut">
              <a:rPr lang="ru-RU" smtClean="0"/>
              <a:t>17.05.2021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10A27-8796-423C-B9C9-0FBC5FE0B4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3867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930B2-BA9F-4883-8FB1-B0B495F21520}" type="datetimeFigureOut">
              <a:rPr lang="ru-RU" smtClean="0"/>
              <a:t>17.05.2021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10A27-8796-423C-B9C9-0FBC5FE0B4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09117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930B2-BA9F-4883-8FB1-B0B495F21520}" type="datetimeFigureOut">
              <a:rPr lang="ru-RU" smtClean="0"/>
              <a:t>17.05.2021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10A27-8796-423C-B9C9-0FBC5FE0B4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4373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930B2-BA9F-4883-8FB1-B0B495F21520}" type="datetimeFigureOut">
              <a:rPr lang="ru-RU" smtClean="0"/>
              <a:t>17.05.2021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10A27-8796-423C-B9C9-0FBC5FE0B4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3813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930B2-BA9F-4883-8FB1-B0B495F21520}" type="datetimeFigureOut">
              <a:rPr lang="ru-RU" smtClean="0"/>
              <a:t>17.05.2021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10A27-8796-423C-B9C9-0FBC5FE0B4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3562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930B2-BA9F-4883-8FB1-B0B495F21520}" type="datetimeFigureOut">
              <a:rPr lang="ru-RU" smtClean="0"/>
              <a:t>17.05.2021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10A27-8796-423C-B9C9-0FBC5FE0B4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5574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930B2-BA9F-4883-8FB1-B0B495F21520}" type="datetimeFigureOut">
              <a:rPr lang="ru-RU" smtClean="0"/>
              <a:t>17.05.2021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10A27-8796-423C-B9C9-0FBC5FE0B4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68003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930B2-BA9F-4883-8FB1-B0B495F21520}" type="datetimeFigureOut">
              <a:rPr lang="ru-RU" smtClean="0"/>
              <a:t>17.05.2021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10A27-8796-423C-B9C9-0FBC5FE0B4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17633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930B2-BA9F-4883-8FB1-B0B495F21520}" type="datetimeFigureOut">
              <a:rPr lang="ru-RU" smtClean="0"/>
              <a:t>17.05.2021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10A27-8796-423C-B9C9-0FBC5FE0B4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90817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930B2-BA9F-4883-8FB1-B0B495F21520}" type="datetimeFigureOut">
              <a:rPr lang="ru-RU" smtClean="0"/>
              <a:t>17.05.2021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10A27-8796-423C-B9C9-0FBC5FE0B4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75380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930B2-BA9F-4883-8FB1-B0B495F21520}" type="datetimeFigureOut">
              <a:rPr lang="ru-RU" smtClean="0"/>
              <a:t>17.05.2021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10A27-8796-423C-B9C9-0FBC5FE0B4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91047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B930B2-BA9F-4883-8FB1-B0B495F21520}" type="datetimeFigureOut">
              <a:rPr lang="ru-RU" smtClean="0"/>
              <a:t>17.05.2021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E10A27-8796-423C-B9C9-0FBC5FE0B4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3059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9576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9841" y="668025"/>
            <a:ext cx="9491932" cy="4245100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8011663" y="1362974"/>
            <a:ext cx="2863971" cy="75049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Построим модель </a:t>
            </a:r>
            <a:r>
              <a:rPr lang="ru-RU" dirty="0" smtClean="0"/>
              <a:t>АЦП</a:t>
            </a:r>
            <a:endParaRPr lang="ru-RU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1671247" y="2113472"/>
            <a:ext cx="3260785" cy="7763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Индикаторы </a:t>
            </a:r>
            <a:r>
              <a:rPr lang="ru-RU" dirty="0" smtClean="0"/>
              <a:t>берем из вкладки </a:t>
            </a:r>
            <a:r>
              <a:rPr lang="en-US" dirty="0" smtClean="0"/>
              <a:t>Meters – Logic Indicator</a:t>
            </a:r>
            <a:endParaRPr lang="ru-RU" dirty="0"/>
          </a:p>
        </p:txBody>
      </p:sp>
      <p:cxnSp>
        <p:nvCxnSpPr>
          <p:cNvPr id="8" name="Прямая со стрелкой 7"/>
          <p:cNvCxnSpPr/>
          <p:nvPr/>
        </p:nvCxnSpPr>
        <p:spPr>
          <a:xfrm>
            <a:off x="5029200" y="2651509"/>
            <a:ext cx="810883" cy="47668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 стрелкой 9"/>
          <p:cNvCxnSpPr/>
          <p:nvPr/>
        </p:nvCxnSpPr>
        <p:spPr>
          <a:xfrm>
            <a:off x="3232030" y="2921155"/>
            <a:ext cx="675736" cy="51215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>
            <a:off x="5132419" y="2413169"/>
            <a:ext cx="2484706" cy="89074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рямоугольник 13"/>
          <p:cNvSpPr/>
          <p:nvPr/>
        </p:nvSpPr>
        <p:spPr>
          <a:xfrm>
            <a:off x="9153105" y="4855087"/>
            <a:ext cx="2622430" cy="7763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Батарейки берем из вкладки </a:t>
            </a:r>
            <a:r>
              <a:rPr lang="en-US" dirty="0" smtClean="0"/>
              <a:t>Sources – Battery</a:t>
            </a:r>
            <a:endParaRPr lang="ru-RU" dirty="0"/>
          </a:p>
        </p:txBody>
      </p:sp>
      <p:cxnSp>
        <p:nvCxnSpPr>
          <p:cNvPr id="15" name="Прямая со стрелкой 14"/>
          <p:cNvCxnSpPr/>
          <p:nvPr/>
        </p:nvCxnSpPr>
        <p:spPr>
          <a:xfrm flipH="1" flipV="1">
            <a:off x="10153291" y="2921155"/>
            <a:ext cx="112144" cy="173711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Прямоугольник 19"/>
          <p:cNvSpPr/>
          <p:nvPr/>
        </p:nvSpPr>
        <p:spPr>
          <a:xfrm>
            <a:off x="3443377" y="5536574"/>
            <a:ext cx="2622430" cy="7763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Микросхемы </a:t>
            </a:r>
            <a:r>
              <a:rPr lang="en-US" dirty="0" smtClean="0"/>
              <a:t>JK</a:t>
            </a:r>
            <a:r>
              <a:rPr lang="ru-RU" dirty="0" smtClean="0"/>
              <a:t> </a:t>
            </a:r>
            <a:r>
              <a:rPr lang="ru-RU" dirty="0" smtClean="0"/>
              <a:t>берем из вкладки </a:t>
            </a:r>
            <a:r>
              <a:rPr lang="en-US" dirty="0" smtClean="0"/>
              <a:t>Flip-flops</a:t>
            </a:r>
            <a:r>
              <a:rPr lang="en-US" dirty="0" smtClean="0"/>
              <a:t> </a:t>
            </a:r>
            <a:r>
              <a:rPr lang="en-US" dirty="0" smtClean="0"/>
              <a:t>– </a:t>
            </a:r>
            <a:r>
              <a:rPr lang="en-US" dirty="0" smtClean="0"/>
              <a:t>JK </a:t>
            </a:r>
            <a:r>
              <a:rPr lang="en-US" dirty="0" err="1" smtClean="0"/>
              <a:t>FlipFlop</a:t>
            </a:r>
            <a:endParaRPr lang="ru-RU" dirty="0"/>
          </a:p>
        </p:txBody>
      </p:sp>
      <p:cxnSp>
        <p:nvCxnSpPr>
          <p:cNvPr id="21" name="Прямая со стрелкой 20"/>
          <p:cNvCxnSpPr/>
          <p:nvPr/>
        </p:nvCxnSpPr>
        <p:spPr>
          <a:xfrm flipH="1" flipV="1">
            <a:off x="2596551" y="4454890"/>
            <a:ext cx="846826" cy="95387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 flipV="1">
            <a:off x="4408098" y="4454891"/>
            <a:ext cx="60385" cy="102297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Прямая со стрелкой 27"/>
          <p:cNvCxnSpPr/>
          <p:nvPr/>
        </p:nvCxnSpPr>
        <p:spPr>
          <a:xfrm flipV="1">
            <a:off x="5433204" y="4658265"/>
            <a:ext cx="1479789" cy="75049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56710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915" y="646980"/>
            <a:ext cx="10678627" cy="3949971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4328183" y="4502989"/>
            <a:ext cx="3260785" cy="7763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Получили модель суммирующего счетчика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656285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344" y="283149"/>
            <a:ext cx="10199298" cy="524638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3344771" y="4753152"/>
            <a:ext cx="3260785" cy="7763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Добавили схему ЦАП</a:t>
            </a:r>
            <a:endParaRPr lang="ru-RU" dirty="0"/>
          </a:p>
        </p:txBody>
      </p:sp>
      <p:cxnSp>
        <p:nvCxnSpPr>
          <p:cNvPr id="6" name="Прямая со стрелкой 5"/>
          <p:cNvCxnSpPr/>
          <p:nvPr/>
        </p:nvCxnSpPr>
        <p:spPr>
          <a:xfrm flipH="1" flipV="1">
            <a:off x="2398146" y="4692762"/>
            <a:ext cx="802255" cy="44857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83707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629" y="437626"/>
            <a:ext cx="10041067" cy="5583612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2870318" y="5244861"/>
            <a:ext cx="3260785" cy="7763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Добавили схему компаратора</a:t>
            </a:r>
            <a:endParaRPr lang="ru-RU" dirty="0"/>
          </a:p>
        </p:txBody>
      </p:sp>
      <p:cxnSp>
        <p:nvCxnSpPr>
          <p:cNvPr id="6" name="Прямая со стрелкой 5"/>
          <p:cNvCxnSpPr/>
          <p:nvPr/>
        </p:nvCxnSpPr>
        <p:spPr>
          <a:xfrm flipV="1">
            <a:off x="6202394" y="4839419"/>
            <a:ext cx="1216323" cy="40544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Прямоугольник 8"/>
          <p:cNvSpPr/>
          <p:nvPr/>
        </p:nvSpPr>
        <p:spPr>
          <a:xfrm>
            <a:off x="9333781" y="5466272"/>
            <a:ext cx="2712167" cy="7763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Добавили генератор импульсов</a:t>
            </a:r>
            <a:endParaRPr lang="ru-RU" dirty="0"/>
          </a:p>
        </p:txBody>
      </p:sp>
      <p:cxnSp>
        <p:nvCxnSpPr>
          <p:cNvPr id="10" name="Прямая со стрелкой 9"/>
          <p:cNvCxnSpPr/>
          <p:nvPr/>
        </p:nvCxnSpPr>
        <p:spPr>
          <a:xfrm flipH="1" flipV="1">
            <a:off x="10515600" y="2881223"/>
            <a:ext cx="514778" cy="236363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61086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279" y="499873"/>
            <a:ext cx="9681713" cy="5137125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2354960" y="4697523"/>
            <a:ext cx="2616680" cy="1068872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Получили модель </a:t>
            </a:r>
            <a:r>
              <a:rPr lang="ru-RU" dirty="0" smtClean="0"/>
              <a:t>АЦП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367602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07" y="750039"/>
            <a:ext cx="9681713" cy="5137125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2001328" y="4881747"/>
            <a:ext cx="2262945" cy="1005417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Рассмотрим работу блоков АЦП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70091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105" y="715533"/>
            <a:ext cx="9681713" cy="5137125"/>
          </a:xfrm>
          <a:prstGeom prst="rect">
            <a:avLst/>
          </a:prstGeom>
        </p:spPr>
      </p:pic>
      <p:sp>
        <p:nvSpPr>
          <p:cNvPr id="5" name="Скругленный прямоугольник 4"/>
          <p:cNvSpPr/>
          <p:nvPr/>
        </p:nvSpPr>
        <p:spPr>
          <a:xfrm>
            <a:off x="2872596" y="1664898"/>
            <a:ext cx="5831457" cy="1483744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8" name="Прямая со стрелкой 7"/>
          <p:cNvCxnSpPr/>
          <p:nvPr/>
        </p:nvCxnSpPr>
        <p:spPr>
          <a:xfrm flipV="1">
            <a:off x="3812875" y="3347049"/>
            <a:ext cx="1544129" cy="155274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Прямоугольник 10"/>
          <p:cNvSpPr/>
          <p:nvPr/>
        </p:nvSpPr>
        <p:spPr>
          <a:xfrm>
            <a:off x="516147" y="4971096"/>
            <a:ext cx="7592684" cy="11967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Счетчик подсчитывает число пришедших от генератора импульсов.</a:t>
            </a:r>
          </a:p>
          <a:p>
            <a:pPr algn="ctr"/>
            <a:r>
              <a:rPr lang="ru-RU" dirty="0" smtClean="0"/>
              <a:t>Отслеживать это количество можно через индикаторы A0..A7, </a:t>
            </a:r>
          </a:p>
          <a:p>
            <a:pPr algn="ctr"/>
            <a:r>
              <a:rPr lang="ru-RU" dirty="0" smtClean="0"/>
              <a:t>причем A0 (справа) соответствует наименьшему разряду данного двоичного числа, A7 (слева) - наибольшему.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983224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07" y="750039"/>
            <a:ext cx="9681713" cy="5137125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1656271" y="5179798"/>
            <a:ext cx="4830793" cy="70736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ЦАП преобразует пришедший двоичный код в соответствующее напряжение</a:t>
            </a:r>
            <a:endParaRPr lang="ru-RU" dirty="0"/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776377" y="3027872"/>
            <a:ext cx="1785668" cy="199270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9" name="Прямая со стрелкой 8"/>
          <p:cNvCxnSpPr/>
          <p:nvPr/>
        </p:nvCxnSpPr>
        <p:spPr>
          <a:xfrm flipH="1" flipV="1">
            <a:off x="2665562" y="4114800"/>
            <a:ext cx="1069676" cy="992038"/>
          </a:xfrm>
          <a:prstGeom prst="straightConnector1">
            <a:avLst/>
          </a:prstGeom>
          <a:ln w="381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0129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07" y="750039"/>
            <a:ext cx="9681713" cy="5137125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112144" y="5128039"/>
            <a:ext cx="6047116" cy="151824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Компаратор сравнивает напряжение ЦАП </a:t>
            </a:r>
          </a:p>
          <a:p>
            <a:pPr algn="ctr"/>
            <a:r>
              <a:rPr lang="ru-RU" dirty="0" smtClean="0"/>
              <a:t>(=сигнал сравнения) со значением заданного напряжения</a:t>
            </a:r>
          </a:p>
          <a:p>
            <a:pPr algn="ctr"/>
            <a:r>
              <a:rPr lang="ru-RU" dirty="0" smtClean="0"/>
              <a:t>(=входной сигнал). Выходной сигнал будет положительным,</a:t>
            </a:r>
          </a:p>
          <a:p>
            <a:pPr algn="ctr"/>
            <a:r>
              <a:rPr lang="ru-RU" dirty="0" smtClean="0"/>
              <a:t>пока значение входного сигнала больше значения </a:t>
            </a:r>
          </a:p>
          <a:p>
            <a:pPr algn="ctr"/>
            <a:r>
              <a:rPr lang="ru-RU" dirty="0" smtClean="0"/>
              <a:t>сигнала сравнения. 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349042" y="3318601"/>
            <a:ext cx="2924354" cy="2926924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8" name="Прямая со стрелкой 7"/>
          <p:cNvCxnSpPr/>
          <p:nvPr/>
        </p:nvCxnSpPr>
        <p:spPr>
          <a:xfrm flipV="1">
            <a:off x="3416060" y="4235570"/>
            <a:ext cx="2708695" cy="724619"/>
          </a:xfrm>
          <a:prstGeom prst="straightConnector1">
            <a:avLst/>
          </a:prstGeom>
          <a:ln w="381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11562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07" y="750039"/>
            <a:ext cx="9681713" cy="5137125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112144" y="5128039"/>
            <a:ext cx="6047116" cy="151824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Соответственно, компаратор управляет</a:t>
            </a:r>
          </a:p>
          <a:p>
            <a:pPr algn="ctr"/>
            <a:r>
              <a:rPr lang="ru-RU" dirty="0" smtClean="0"/>
              <a:t>работой счетчика через логический элемент И.</a:t>
            </a:r>
          </a:p>
          <a:p>
            <a:pPr algn="ctr"/>
            <a:r>
              <a:rPr lang="ru-RU" dirty="0" smtClean="0"/>
              <a:t>Работа счетчика прекратится, когда выходной сигнал </a:t>
            </a:r>
          </a:p>
          <a:p>
            <a:pPr algn="ctr"/>
            <a:r>
              <a:rPr lang="ru-RU" dirty="0" smtClean="0"/>
              <a:t>компаратора станет отрицательным, т.е.</a:t>
            </a:r>
          </a:p>
          <a:p>
            <a:pPr algn="ctr"/>
            <a:r>
              <a:rPr lang="ru-RU" dirty="0" smtClean="0"/>
              <a:t>сигнал сравнения превзойдет значение входного сигнала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349042" y="3318601"/>
            <a:ext cx="2924354" cy="2926924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8" name="Прямая со стрелкой 7"/>
          <p:cNvCxnSpPr/>
          <p:nvPr/>
        </p:nvCxnSpPr>
        <p:spPr>
          <a:xfrm flipV="1">
            <a:off x="3416060" y="4235570"/>
            <a:ext cx="2708695" cy="724619"/>
          </a:xfrm>
          <a:prstGeom prst="straightConnector1">
            <a:avLst/>
          </a:prstGeom>
          <a:ln w="381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Скругленный прямоугольник 1"/>
          <p:cNvSpPr/>
          <p:nvPr/>
        </p:nvSpPr>
        <p:spPr>
          <a:xfrm>
            <a:off x="8186468" y="2441275"/>
            <a:ext cx="707366" cy="57797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" name="Прямая со стрелкой 6"/>
          <p:cNvCxnSpPr/>
          <p:nvPr/>
        </p:nvCxnSpPr>
        <p:spPr>
          <a:xfrm flipV="1">
            <a:off x="2576423" y="2576730"/>
            <a:ext cx="5489275" cy="2383459"/>
          </a:xfrm>
          <a:prstGeom prst="straightConnector1">
            <a:avLst/>
          </a:prstGeom>
          <a:ln w="381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16811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47" y="314277"/>
            <a:ext cx="10697123" cy="5689707"/>
          </a:xfrm>
          <a:prstGeom prst="rect">
            <a:avLst/>
          </a:prstGeom>
        </p:spPr>
      </p:pic>
      <p:cxnSp>
        <p:nvCxnSpPr>
          <p:cNvPr id="6" name="Прямая со стрелкой 5"/>
          <p:cNvCxnSpPr/>
          <p:nvPr/>
        </p:nvCxnSpPr>
        <p:spPr>
          <a:xfrm flipV="1">
            <a:off x="2881223" y="905774"/>
            <a:ext cx="1173192" cy="42700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 стрелкой 6"/>
          <p:cNvCxnSpPr/>
          <p:nvPr/>
        </p:nvCxnSpPr>
        <p:spPr>
          <a:xfrm flipV="1">
            <a:off x="3956650" y="3269411"/>
            <a:ext cx="6041365" cy="232050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Прямоугольник 8"/>
          <p:cNvSpPr/>
          <p:nvPr/>
        </p:nvSpPr>
        <p:spPr>
          <a:xfrm>
            <a:off x="4813723" y="5822829"/>
            <a:ext cx="3260785" cy="7763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Задаем</a:t>
            </a:r>
            <a:r>
              <a:rPr lang="ru-RU" dirty="0" smtClean="0"/>
              <a:t> входной сигнал 1 В.</a:t>
            </a:r>
            <a:endParaRPr lang="ru-RU" dirty="0"/>
          </a:p>
        </p:txBody>
      </p:sp>
      <p:cxnSp>
        <p:nvCxnSpPr>
          <p:cNvPr id="11" name="Прямая со стрелкой 10"/>
          <p:cNvCxnSpPr/>
          <p:nvPr/>
        </p:nvCxnSpPr>
        <p:spPr>
          <a:xfrm flipV="1">
            <a:off x="6150635" y="5421701"/>
            <a:ext cx="966158" cy="31055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Прямоугольник 11"/>
          <p:cNvSpPr/>
          <p:nvPr/>
        </p:nvSpPr>
        <p:spPr>
          <a:xfrm>
            <a:off x="8747368" y="5227607"/>
            <a:ext cx="3260785" cy="7763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Наблюдаем двоичный код.</a:t>
            </a:r>
            <a:endParaRPr lang="ru-RU" dirty="0"/>
          </a:p>
        </p:txBody>
      </p:sp>
      <p:cxnSp>
        <p:nvCxnSpPr>
          <p:cNvPr id="13" name="Прямая со стрелкой 12"/>
          <p:cNvCxnSpPr/>
          <p:nvPr/>
        </p:nvCxnSpPr>
        <p:spPr>
          <a:xfrm flipH="1" flipV="1">
            <a:off x="5598543" y="2538322"/>
            <a:ext cx="3830130" cy="259870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Скругленный прямоугольник 15"/>
          <p:cNvSpPr/>
          <p:nvPr/>
        </p:nvSpPr>
        <p:spPr>
          <a:xfrm>
            <a:off x="2424023" y="2027208"/>
            <a:ext cx="5564037" cy="49170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472207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</TotalTime>
  <Words>162</Words>
  <Application>Microsoft Office PowerPoint</Application>
  <PresentationFormat>Широкоэкранный</PresentationFormat>
  <Paragraphs>26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Ирина Шеховцова</dc:creator>
  <cp:lastModifiedBy>Ирина Шеховцова</cp:lastModifiedBy>
  <cp:revision>10</cp:revision>
  <dcterms:created xsi:type="dcterms:W3CDTF">2021-05-16T22:20:45Z</dcterms:created>
  <dcterms:modified xsi:type="dcterms:W3CDTF">2021-05-17T01:21:46Z</dcterms:modified>
</cp:coreProperties>
</file>