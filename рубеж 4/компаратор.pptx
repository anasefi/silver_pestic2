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3" r:id="rId7"/>
    <p:sldId id="265" r:id="rId8"/>
    <p:sldId id="264" r:id="rId9"/>
    <p:sldId id="262" r:id="rId10"/>
    <p:sldId id="261" r:id="rId11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>
        <p:scale>
          <a:sx n="66" d="100"/>
          <a:sy n="66" d="100"/>
        </p:scale>
        <p:origin x="668" y="2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DD5871-5B66-4261-AB05-7CAE4E22C625}" type="datetimeFigureOut">
              <a:rPr lang="ru-RU" smtClean="0"/>
              <a:t>17.05.2021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3AF54C-15C1-41BC-A29A-4F144F35C6D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121701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DD5871-5B66-4261-AB05-7CAE4E22C625}" type="datetimeFigureOut">
              <a:rPr lang="ru-RU" smtClean="0"/>
              <a:t>17.05.2021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3AF54C-15C1-41BC-A29A-4F144F35C6D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817154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DD5871-5B66-4261-AB05-7CAE4E22C625}" type="datetimeFigureOut">
              <a:rPr lang="ru-RU" smtClean="0"/>
              <a:t>17.05.2021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3AF54C-15C1-41BC-A29A-4F144F35C6D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5945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DD5871-5B66-4261-AB05-7CAE4E22C625}" type="datetimeFigureOut">
              <a:rPr lang="ru-RU" smtClean="0"/>
              <a:t>17.05.2021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3AF54C-15C1-41BC-A29A-4F144F35C6D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25060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DD5871-5B66-4261-AB05-7CAE4E22C625}" type="datetimeFigureOut">
              <a:rPr lang="ru-RU" smtClean="0"/>
              <a:t>17.05.2021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3AF54C-15C1-41BC-A29A-4F144F35C6D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914508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DD5871-5B66-4261-AB05-7CAE4E22C625}" type="datetimeFigureOut">
              <a:rPr lang="ru-RU" smtClean="0"/>
              <a:t>17.05.2021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3AF54C-15C1-41BC-A29A-4F144F35C6D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729361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DD5871-5B66-4261-AB05-7CAE4E22C625}" type="datetimeFigureOut">
              <a:rPr lang="ru-RU" smtClean="0"/>
              <a:t>17.05.2021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3AF54C-15C1-41BC-A29A-4F144F35C6D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92061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DD5871-5B66-4261-AB05-7CAE4E22C625}" type="datetimeFigureOut">
              <a:rPr lang="ru-RU" smtClean="0"/>
              <a:t>17.05.2021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3AF54C-15C1-41BC-A29A-4F144F35C6D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07433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DD5871-5B66-4261-AB05-7CAE4E22C625}" type="datetimeFigureOut">
              <a:rPr lang="ru-RU" smtClean="0"/>
              <a:t>17.05.2021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3AF54C-15C1-41BC-A29A-4F144F35C6D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652618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DD5871-5B66-4261-AB05-7CAE4E22C625}" type="datetimeFigureOut">
              <a:rPr lang="ru-RU" smtClean="0"/>
              <a:t>17.05.2021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3AF54C-15C1-41BC-A29A-4F144F35C6D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46575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DD5871-5B66-4261-AB05-7CAE4E22C625}" type="datetimeFigureOut">
              <a:rPr lang="ru-RU" smtClean="0"/>
              <a:t>17.05.2021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3AF54C-15C1-41BC-A29A-4F144F35C6D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272010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0DD5871-5B66-4261-AB05-7CAE4E22C625}" type="datetimeFigureOut">
              <a:rPr lang="ru-RU" smtClean="0"/>
              <a:t>17.05.2021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13AF54C-15C1-41BC-A29A-4F144F35C6D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088750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012018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762" y="64837"/>
            <a:ext cx="8512474" cy="59605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20350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0445" y="261779"/>
            <a:ext cx="8039190" cy="5838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03776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1827" y="463549"/>
            <a:ext cx="6976493" cy="5825107"/>
          </a:xfrm>
          <a:prstGeom prst="rect">
            <a:avLst/>
          </a:prstGeom>
        </p:spPr>
      </p:pic>
      <p:sp>
        <p:nvSpPr>
          <p:cNvPr id="5" name="Прямоугольник 4"/>
          <p:cNvSpPr/>
          <p:nvPr/>
        </p:nvSpPr>
        <p:spPr>
          <a:xfrm>
            <a:off x="6864349" y="2001328"/>
            <a:ext cx="2863971" cy="914400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Построим модель цифрового компаратора на логических элементах</a:t>
            </a:r>
            <a:endParaRPr lang="ru-RU" dirty="0"/>
          </a:p>
        </p:txBody>
      </p:sp>
      <p:sp>
        <p:nvSpPr>
          <p:cNvPr id="6" name="Прямоугольник 5"/>
          <p:cNvSpPr/>
          <p:nvPr/>
        </p:nvSpPr>
        <p:spPr>
          <a:xfrm>
            <a:off x="6864349" y="5512279"/>
            <a:ext cx="3260785" cy="77637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«Исключающее ИЛИ» берем из вкладки </a:t>
            </a:r>
            <a:r>
              <a:rPr lang="en-US" dirty="0" smtClean="0"/>
              <a:t>Gates – </a:t>
            </a:r>
            <a:r>
              <a:rPr lang="en-US" dirty="0" err="1" smtClean="0"/>
              <a:t>Xor</a:t>
            </a:r>
            <a:r>
              <a:rPr lang="en-US" dirty="0" smtClean="0"/>
              <a:t> gate</a:t>
            </a:r>
            <a:endParaRPr lang="ru-RU" dirty="0"/>
          </a:p>
        </p:txBody>
      </p:sp>
      <p:cxnSp>
        <p:nvCxnSpPr>
          <p:cNvPr id="8" name="Прямая со стрелкой 7"/>
          <p:cNvCxnSpPr/>
          <p:nvPr/>
        </p:nvCxnSpPr>
        <p:spPr>
          <a:xfrm flipH="1" flipV="1">
            <a:off x="6081623" y="3183147"/>
            <a:ext cx="1094416" cy="2191111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Прямая со стрелкой 9"/>
          <p:cNvCxnSpPr/>
          <p:nvPr/>
        </p:nvCxnSpPr>
        <p:spPr>
          <a:xfrm flipH="1" flipV="1">
            <a:off x="6158121" y="4321834"/>
            <a:ext cx="706228" cy="1052423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Прямая со стрелкой 11"/>
          <p:cNvCxnSpPr/>
          <p:nvPr/>
        </p:nvCxnSpPr>
        <p:spPr>
          <a:xfrm flipH="1" flipV="1">
            <a:off x="6152221" y="5542471"/>
            <a:ext cx="566616" cy="357996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Прямоугольник 12"/>
          <p:cNvSpPr/>
          <p:nvPr/>
        </p:nvSpPr>
        <p:spPr>
          <a:xfrm>
            <a:off x="483080" y="3631720"/>
            <a:ext cx="2622430" cy="77637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Переключатели берем из вкладки </a:t>
            </a:r>
            <a:r>
              <a:rPr lang="en-US" dirty="0" smtClean="0"/>
              <a:t>Switches – High Low Switch</a:t>
            </a:r>
            <a:r>
              <a:rPr lang="ru-RU" dirty="0" smtClean="0"/>
              <a:t> </a:t>
            </a:r>
            <a:endParaRPr lang="ru-RU" dirty="0"/>
          </a:p>
        </p:txBody>
      </p:sp>
      <p:cxnSp>
        <p:nvCxnSpPr>
          <p:cNvPr id="18" name="Прямая со стрелкой 17"/>
          <p:cNvCxnSpPr/>
          <p:nvPr/>
        </p:nvCxnSpPr>
        <p:spPr>
          <a:xfrm flipV="1">
            <a:off x="2251494" y="2820838"/>
            <a:ext cx="1466491" cy="67286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/>
          <p:nvPr/>
        </p:nvCxnSpPr>
        <p:spPr>
          <a:xfrm>
            <a:off x="3226279" y="4019908"/>
            <a:ext cx="634042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>
            <a:off x="2329132" y="4563374"/>
            <a:ext cx="1457864" cy="979097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Прямоугольник 22"/>
          <p:cNvSpPr/>
          <p:nvPr/>
        </p:nvSpPr>
        <p:spPr>
          <a:xfrm>
            <a:off x="8736282" y="4278702"/>
            <a:ext cx="3260785" cy="77637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Индикатор берем из вкладки </a:t>
            </a:r>
            <a:r>
              <a:rPr lang="en-US" dirty="0" smtClean="0"/>
              <a:t>Meters – Logic Indicator</a:t>
            </a:r>
            <a:endParaRPr lang="ru-RU" dirty="0"/>
          </a:p>
        </p:txBody>
      </p:sp>
      <p:sp>
        <p:nvSpPr>
          <p:cNvPr id="24" name="Прямоугольник 23"/>
          <p:cNvSpPr/>
          <p:nvPr/>
        </p:nvSpPr>
        <p:spPr>
          <a:xfrm>
            <a:off x="8598260" y="3053749"/>
            <a:ext cx="3260785" cy="77637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«ИЛИ НЕ» берем из вкладки </a:t>
            </a:r>
            <a:r>
              <a:rPr lang="en-US" dirty="0" smtClean="0"/>
              <a:t>Logic ICs – Gates</a:t>
            </a:r>
            <a:endParaRPr lang="ru-RU" dirty="0"/>
          </a:p>
        </p:txBody>
      </p:sp>
      <p:cxnSp>
        <p:nvCxnSpPr>
          <p:cNvPr id="28" name="Прямая со стрелкой 27"/>
          <p:cNvCxnSpPr/>
          <p:nvPr/>
        </p:nvCxnSpPr>
        <p:spPr>
          <a:xfrm flipH="1">
            <a:off x="7772400" y="3278038"/>
            <a:ext cx="722341" cy="552088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Прямая со стрелкой 29"/>
          <p:cNvCxnSpPr/>
          <p:nvPr/>
        </p:nvCxnSpPr>
        <p:spPr>
          <a:xfrm flipH="1" flipV="1">
            <a:off x="8428008" y="4278702"/>
            <a:ext cx="170252" cy="388188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553582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Рисунок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2587" y="255348"/>
            <a:ext cx="7487729" cy="5951369"/>
          </a:xfrm>
          <a:prstGeom prst="rect">
            <a:avLst/>
          </a:prstGeom>
        </p:spPr>
      </p:pic>
      <p:sp>
        <p:nvSpPr>
          <p:cNvPr id="8" name="Прямоугольник 7"/>
          <p:cNvSpPr/>
          <p:nvPr/>
        </p:nvSpPr>
        <p:spPr>
          <a:xfrm>
            <a:off x="8134708" y="3231032"/>
            <a:ext cx="2616680" cy="1319842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Получили модель цифрового компаратора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4890446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7427" y="342188"/>
            <a:ext cx="7698900" cy="6222513"/>
          </a:xfrm>
          <a:prstGeom prst="rect">
            <a:avLst/>
          </a:prstGeom>
        </p:spPr>
      </p:pic>
      <p:sp>
        <p:nvSpPr>
          <p:cNvPr id="7" name="Прямоугольник 6"/>
          <p:cNvSpPr/>
          <p:nvPr/>
        </p:nvSpPr>
        <p:spPr>
          <a:xfrm>
            <a:off x="1009290" y="1897811"/>
            <a:ext cx="2337759" cy="58659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A=111 B=111</a:t>
            </a:r>
            <a:endParaRPr lang="ru-RU" dirty="0"/>
          </a:p>
        </p:txBody>
      </p:sp>
      <p:sp>
        <p:nvSpPr>
          <p:cNvPr id="8" name="Прямоугольник 7"/>
          <p:cNvSpPr/>
          <p:nvPr/>
        </p:nvSpPr>
        <p:spPr>
          <a:xfrm>
            <a:off x="189781" y="4761781"/>
            <a:ext cx="2260121" cy="146649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1. </a:t>
            </a:r>
            <a:r>
              <a:rPr lang="ru-RU" dirty="0" smtClean="0"/>
              <a:t>Устанавливаем последовательность ключей, которые соответствуют числам </a:t>
            </a:r>
            <a:r>
              <a:rPr lang="en-US" dirty="0" smtClean="0"/>
              <a:t>A </a:t>
            </a:r>
            <a:r>
              <a:rPr lang="ru-RU" dirty="0" smtClean="0"/>
              <a:t>и </a:t>
            </a:r>
            <a:r>
              <a:rPr lang="en-US" dirty="0" smtClean="0"/>
              <a:t>B</a:t>
            </a:r>
            <a:endParaRPr lang="ru-RU" dirty="0"/>
          </a:p>
        </p:txBody>
      </p:sp>
      <p:sp>
        <p:nvSpPr>
          <p:cNvPr id="9" name="Прямоугольник 8"/>
          <p:cNvSpPr/>
          <p:nvPr/>
        </p:nvSpPr>
        <p:spPr>
          <a:xfrm>
            <a:off x="8376249" y="2363636"/>
            <a:ext cx="2622430" cy="77637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2. </a:t>
            </a:r>
            <a:r>
              <a:rPr lang="ru-RU" dirty="0" smtClean="0"/>
              <a:t>Наблюдаем за состоянием индикатора</a:t>
            </a:r>
            <a:endParaRPr lang="ru-RU" dirty="0"/>
          </a:p>
        </p:txBody>
      </p:sp>
      <p:sp>
        <p:nvSpPr>
          <p:cNvPr id="10" name="Прямоугольник 9"/>
          <p:cNvSpPr/>
          <p:nvPr/>
        </p:nvSpPr>
        <p:spPr>
          <a:xfrm>
            <a:off x="4705536" y="2467156"/>
            <a:ext cx="1332955" cy="362311"/>
          </a:xfrm>
          <a:prstGeom prst="rect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A0=B0</a:t>
            </a:r>
            <a:endParaRPr lang="ru-RU" dirty="0"/>
          </a:p>
        </p:txBody>
      </p:sp>
      <p:sp>
        <p:nvSpPr>
          <p:cNvPr id="11" name="Прямоугольник 10"/>
          <p:cNvSpPr/>
          <p:nvPr/>
        </p:nvSpPr>
        <p:spPr>
          <a:xfrm>
            <a:off x="4581891" y="3758243"/>
            <a:ext cx="1332955" cy="362311"/>
          </a:xfrm>
          <a:prstGeom prst="rect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A1=B1</a:t>
            </a:r>
            <a:endParaRPr lang="ru-RU" dirty="0"/>
          </a:p>
        </p:txBody>
      </p:sp>
      <p:sp>
        <p:nvSpPr>
          <p:cNvPr id="12" name="Прямоугольник 11"/>
          <p:cNvSpPr/>
          <p:nvPr/>
        </p:nvSpPr>
        <p:spPr>
          <a:xfrm>
            <a:off x="4581891" y="5195981"/>
            <a:ext cx="1332955" cy="362311"/>
          </a:xfrm>
          <a:prstGeom prst="rect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A2=B2</a:t>
            </a:r>
            <a:endParaRPr lang="ru-RU" dirty="0"/>
          </a:p>
        </p:txBody>
      </p:sp>
      <p:sp>
        <p:nvSpPr>
          <p:cNvPr id="13" name="Прямоугольник 12"/>
          <p:cNvSpPr/>
          <p:nvPr/>
        </p:nvSpPr>
        <p:spPr>
          <a:xfrm>
            <a:off x="6388033" y="5161461"/>
            <a:ext cx="2622430" cy="128533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Равенство во всех разрядах приводит к тому, что на входах «ИЛИ НЕ» будут нули</a:t>
            </a:r>
            <a:endParaRPr lang="ru-RU" dirty="0"/>
          </a:p>
        </p:txBody>
      </p:sp>
      <p:sp>
        <p:nvSpPr>
          <p:cNvPr id="14" name="Стрелка вправо 13"/>
          <p:cNvSpPr/>
          <p:nvPr/>
        </p:nvSpPr>
        <p:spPr>
          <a:xfrm>
            <a:off x="9091383" y="5622974"/>
            <a:ext cx="572675" cy="36230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Прямоугольник 14"/>
          <p:cNvSpPr/>
          <p:nvPr/>
        </p:nvSpPr>
        <p:spPr>
          <a:xfrm>
            <a:off x="9687464" y="5207472"/>
            <a:ext cx="2406770" cy="113868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На выходе «ИЛИ НЕ» будет единица, регистрируем равенство </a:t>
            </a:r>
            <a:r>
              <a:rPr lang="en-US" dirty="0" smtClean="0"/>
              <a:t>A=B</a:t>
            </a:r>
            <a:endParaRPr lang="ru-RU" dirty="0"/>
          </a:p>
        </p:txBody>
      </p:sp>
      <p:cxnSp>
        <p:nvCxnSpPr>
          <p:cNvPr id="17" name="Прямая со стрелкой 16"/>
          <p:cNvCxnSpPr/>
          <p:nvPr/>
        </p:nvCxnSpPr>
        <p:spPr>
          <a:xfrm flipH="1" flipV="1">
            <a:off x="5796951" y="3019245"/>
            <a:ext cx="1104181" cy="1992702"/>
          </a:xfrm>
          <a:prstGeom prst="straightConnector1">
            <a:avLst/>
          </a:prstGeom>
          <a:ln w="38100"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Прямая со стрелкой 18"/>
          <p:cNvCxnSpPr/>
          <p:nvPr/>
        </p:nvCxnSpPr>
        <p:spPr>
          <a:xfrm flipH="1" flipV="1">
            <a:off x="5914846" y="4356340"/>
            <a:ext cx="828137" cy="687217"/>
          </a:xfrm>
          <a:prstGeom prst="straightConnector1">
            <a:avLst/>
          </a:prstGeom>
          <a:ln w="38100"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Прямая со стрелкой 20"/>
          <p:cNvCxnSpPr/>
          <p:nvPr/>
        </p:nvCxnSpPr>
        <p:spPr>
          <a:xfrm flipH="1" flipV="1">
            <a:off x="5686877" y="5776815"/>
            <a:ext cx="662165" cy="330687"/>
          </a:xfrm>
          <a:prstGeom prst="straightConnector1">
            <a:avLst/>
          </a:prstGeom>
          <a:ln w="38100"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Прямая со стрелкой 24"/>
          <p:cNvCxnSpPr/>
          <p:nvPr/>
        </p:nvCxnSpPr>
        <p:spPr>
          <a:xfrm flipH="1" flipV="1">
            <a:off x="8203721" y="4278702"/>
            <a:ext cx="1975449" cy="764855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565676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Рисунок 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4318" y="289778"/>
            <a:ext cx="7534645" cy="6254408"/>
          </a:xfrm>
          <a:prstGeom prst="rect">
            <a:avLst/>
          </a:prstGeom>
        </p:spPr>
      </p:pic>
      <p:sp>
        <p:nvSpPr>
          <p:cNvPr id="9" name="Прямоугольник 8"/>
          <p:cNvSpPr/>
          <p:nvPr/>
        </p:nvSpPr>
        <p:spPr>
          <a:xfrm>
            <a:off x="8376249" y="2363636"/>
            <a:ext cx="2622430" cy="77637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2. </a:t>
            </a:r>
            <a:r>
              <a:rPr lang="ru-RU" dirty="0" smtClean="0"/>
              <a:t>Наблюдаем за состоянием индикатора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Прямоугольник 9"/>
              <p:cNvSpPr/>
              <p:nvPr/>
            </p:nvSpPr>
            <p:spPr>
              <a:xfrm>
                <a:off x="4705536" y="2467156"/>
                <a:ext cx="1332955" cy="362311"/>
              </a:xfrm>
              <a:prstGeom prst="rect">
                <a:avLst/>
              </a:prstGeom>
              <a:ln w="38100">
                <a:solidFill>
                  <a:srgbClr val="FF000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 smtClean="0"/>
                  <a:t>A0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</m:t>
                    </m:r>
                  </m:oMath>
                </a14:m>
                <a:r>
                  <a:rPr lang="en-US" dirty="0" smtClean="0"/>
                  <a:t>B0</a:t>
                </a:r>
                <a:endParaRPr lang="ru-RU" dirty="0"/>
              </a:p>
            </p:txBody>
          </p:sp>
        </mc:Choice>
        <mc:Fallback xmlns="">
          <p:sp>
            <p:nvSpPr>
              <p:cNvPr id="10" name="Прямоугольник 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05536" y="2467156"/>
                <a:ext cx="1332955" cy="362311"/>
              </a:xfrm>
              <a:prstGeom prst="rect">
                <a:avLst/>
              </a:prstGeom>
              <a:blipFill rotWithShape="0">
                <a:blip r:embed="rId3"/>
                <a:stretch>
                  <a:fillRect t="-4615" b="-20000"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Прямоугольник 10"/>
              <p:cNvSpPr/>
              <p:nvPr/>
            </p:nvSpPr>
            <p:spPr>
              <a:xfrm>
                <a:off x="4581891" y="3758243"/>
                <a:ext cx="1332955" cy="362311"/>
              </a:xfrm>
              <a:prstGeom prst="rect">
                <a:avLst/>
              </a:prstGeom>
              <a:ln w="38100">
                <a:solidFill>
                  <a:srgbClr val="FF000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 smtClean="0"/>
                  <a:t>A1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</m:t>
                    </m:r>
                  </m:oMath>
                </a14:m>
                <a:r>
                  <a:rPr lang="en-US" dirty="0" smtClean="0"/>
                  <a:t>B1</a:t>
                </a:r>
                <a:endParaRPr lang="ru-RU" dirty="0"/>
              </a:p>
            </p:txBody>
          </p:sp>
        </mc:Choice>
        <mc:Fallback xmlns="">
          <p:sp>
            <p:nvSpPr>
              <p:cNvPr id="11" name="Прямоугольник 1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81891" y="3758243"/>
                <a:ext cx="1332955" cy="362311"/>
              </a:xfrm>
              <a:prstGeom prst="rect">
                <a:avLst/>
              </a:prstGeom>
              <a:blipFill rotWithShape="0">
                <a:blip r:embed="rId4"/>
                <a:stretch>
                  <a:fillRect t="-4615" b="-20000"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Прямоугольник 11"/>
          <p:cNvSpPr/>
          <p:nvPr/>
        </p:nvSpPr>
        <p:spPr>
          <a:xfrm>
            <a:off x="4581891" y="5195981"/>
            <a:ext cx="1332955" cy="362311"/>
          </a:xfrm>
          <a:prstGeom prst="rect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A2=B2</a:t>
            </a:r>
            <a:endParaRPr lang="ru-RU" dirty="0"/>
          </a:p>
        </p:txBody>
      </p:sp>
      <p:sp>
        <p:nvSpPr>
          <p:cNvPr id="13" name="Прямоугольник 12"/>
          <p:cNvSpPr/>
          <p:nvPr/>
        </p:nvSpPr>
        <p:spPr>
          <a:xfrm>
            <a:off x="6388033" y="5161460"/>
            <a:ext cx="2622430" cy="150062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Неравенство в 0 и 1 разряде приводит к тому, что </a:t>
            </a:r>
            <a:r>
              <a:rPr lang="ru-RU" b="1" u="sng" dirty="0" smtClean="0">
                <a:solidFill>
                  <a:srgbClr val="FF0000"/>
                </a:solidFill>
              </a:rPr>
              <a:t>не на всех </a:t>
            </a:r>
            <a:r>
              <a:rPr lang="ru-RU" dirty="0" smtClean="0"/>
              <a:t>входах «ИЛИ НЕ» будут нули</a:t>
            </a:r>
            <a:endParaRPr lang="ru-RU" dirty="0"/>
          </a:p>
        </p:txBody>
      </p:sp>
      <p:sp>
        <p:nvSpPr>
          <p:cNvPr id="14" name="Стрелка вправо 13"/>
          <p:cNvSpPr/>
          <p:nvPr/>
        </p:nvSpPr>
        <p:spPr>
          <a:xfrm>
            <a:off x="9091383" y="5622974"/>
            <a:ext cx="572675" cy="36230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Прямоугольник 14"/>
              <p:cNvSpPr/>
              <p:nvPr/>
            </p:nvSpPr>
            <p:spPr>
              <a:xfrm>
                <a:off x="9687464" y="5234784"/>
                <a:ext cx="2406770" cy="1138687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ru-RU" dirty="0" smtClean="0"/>
                  <a:t>На выходе «ИЛИ НЕ» будет ноль, регистрируем неравенство </a:t>
                </a:r>
                <a:r>
                  <a:rPr lang="en-US" dirty="0" smtClean="0"/>
                  <a:t>A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</m:t>
                    </m:r>
                  </m:oMath>
                </a14:m>
                <a:r>
                  <a:rPr lang="en-US" dirty="0" smtClean="0"/>
                  <a:t>B</a:t>
                </a:r>
                <a:endParaRPr lang="ru-RU" dirty="0"/>
              </a:p>
            </p:txBody>
          </p:sp>
        </mc:Choice>
        <mc:Fallback xmlns="">
          <p:sp>
            <p:nvSpPr>
              <p:cNvPr id="15" name="Прямоугольник 1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87464" y="5234784"/>
                <a:ext cx="2406770" cy="1138687"/>
              </a:xfrm>
              <a:prstGeom prst="rect">
                <a:avLst/>
              </a:prstGeom>
              <a:blipFill rotWithShape="0">
                <a:blip r:embed="rId5"/>
                <a:stretch>
                  <a:fillRect t="-4762" b="-1005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Прямая со стрелкой 16"/>
          <p:cNvCxnSpPr/>
          <p:nvPr/>
        </p:nvCxnSpPr>
        <p:spPr>
          <a:xfrm flipH="1" flipV="1">
            <a:off x="5686877" y="2947371"/>
            <a:ext cx="1214256" cy="2064576"/>
          </a:xfrm>
          <a:prstGeom prst="straightConnector1">
            <a:avLst/>
          </a:prstGeom>
          <a:ln w="38100"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Прямая со стрелкой 18"/>
          <p:cNvCxnSpPr/>
          <p:nvPr/>
        </p:nvCxnSpPr>
        <p:spPr>
          <a:xfrm flipH="1" flipV="1">
            <a:off x="5914846" y="4356340"/>
            <a:ext cx="828137" cy="687217"/>
          </a:xfrm>
          <a:prstGeom prst="straightConnector1">
            <a:avLst/>
          </a:prstGeom>
          <a:ln w="38100"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Прямая со стрелкой 20"/>
          <p:cNvCxnSpPr/>
          <p:nvPr/>
        </p:nvCxnSpPr>
        <p:spPr>
          <a:xfrm flipH="1" flipV="1">
            <a:off x="5686877" y="5776815"/>
            <a:ext cx="662165" cy="330687"/>
          </a:xfrm>
          <a:prstGeom prst="straightConnector1">
            <a:avLst/>
          </a:prstGeom>
          <a:ln w="38100"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Прямая со стрелкой 24"/>
          <p:cNvCxnSpPr/>
          <p:nvPr/>
        </p:nvCxnSpPr>
        <p:spPr>
          <a:xfrm flipH="1" flipV="1">
            <a:off x="8203721" y="4278702"/>
            <a:ext cx="1975449" cy="764855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Прямоугольник 6"/>
          <p:cNvSpPr/>
          <p:nvPr/>
        </p:nvSpPr>
        <p:spPr>
          <a:xfrm>
            <a:off x="1009990" y="1835665"/>
            <a:ext cx="2337759" cy="58659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A=110 B=101</a:t>
            </a:r>
            <a:endParaRPr lang="ru-RU" dirty="0"/>
          </a:p>
        </p:txBody>
      </p:sp>
      <p:sp>
        <p:nvSpPr>
          <p:cNvPr id="8" name="Прямоугольник 7"/>
          <p:cNvSpPr/>
          <p:nvPr/>
        </p:nvSpPr>
        <p:spPr>
          <a:xfrm>
            <a:off x="189781" y="4761781"/>
            <a:ext cx="2260121" cy="146649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1. </a:t>
            </a:r>
            <a:r>
              <a:rPr lang="ru-RU" dirty="0" smtClean="0"/>
              <a:t>Устанавливаем последовательность ключей, которые соответствуют числам </a:t>
            </a:r>
            <a:r>
              <a:rPr lang="en-US" dirty="0" smtClean="0"/>
              <a:t>A </a:t>
            </a:r>
            <a:r>
              <a:rPr lang="ru-RU" dirty="0" smtClean="0"/>
              <a:t>и </a:t>
            </a:r>
            <a:r>
              <a:rPr lang="en-US" dirty="0" smtClean="0"/>
              <a:t>B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5332883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323676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550" y="636876"/>
            <a:ext cx="10656498" cy="5617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19331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5388" y="580667"/>
            <a:ext cx="10889411" cy="53732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6388322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285</TotalTime>
  <Words>164</Words>
  <Application>Microsoft Office PowerPoint</Application>
  <PresentationFormat>Широкоэкранный</PresentationFormat>
  <Paragraphs>22</Paragraphs>
  <Slides>10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5" baseType="lpstr">
      <vt:lpstr>Arial</vt:lpstr>
      <vt:lpstr>Calibri</vt:lpstr>
      <vt:lpstr>Calibri Light</vt:lpstr>
      <vt:lpstr>Cambria Math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Ирина Шеховцова</dc:creator>
  <cp:lastModifiedBy>Anastasya</cp:lastModifiedBy>
  <cp:revision>9</cp:revision>
  <dcterms:created xsi:type="dcterms:W3CDTF">2021-05-16T14:11:22Z</dcterms:created>
  <dcterms:modified xsi:type="dcterms:W3CDTF">2021-05-16T22:09:16Z</dcterms:modified>
</cp:coreProperties>
</file>