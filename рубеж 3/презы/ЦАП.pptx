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4" r:id="rId16"/>
    <p:sldId id="273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75" autoAdjust="0"/>
    <p:restoredTop sz="94660"/>
  </p:normalViewPr>
  <p:slideViewPr>
    <p:cSldViewPr snapToGrid="0">
      <p:cViewPr>
        <p:scale>
          <a:sx n="75" d="100"/>
          <a:sy n="75" d="100"/>
        </p:scale>
        <p:origin x="384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F49C-B38B-4102-9328-082EB92AC7D2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05EE-09BB-42F6-92ED-32819A4AE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0259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F49C-B38B-4102-9328-082EB92AC7D2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05EE-09BB-42F6-92ED-32819A4AE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6925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F49C-B38B-4102-9328-082EB92AC7D2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05EE-09BB-42F6-92ED-32819A4AE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5828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F49C-B38B-4102-9328-082EB92AC7D2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05EE-09BB-42F6-92ED-32819A4AE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3913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F49C-B38B-4102-9328-082EB92AC7D2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05EE-09BB-42F6-92ED-32819A4AE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9641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F49C-B38B-4102-9328-082EB92AC7D2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05EE-09BB-42F6-92ED-32819A4AE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1547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F49C-B38B-4102-9328-082EB92AC7D2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05EE-09BB-42F6-92ED-32819A4AE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9644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F49C-B38B-4102-9328-082EB92AC7D2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05EE-09BB-42F6-92ED-32819A4AE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831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F49C-B38B-4102-9328-082EB92AC7D2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05EE-09BB-42F6-92ED-32819A4AE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9244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F49C-B38B-4102-9328-082EB92AC7D2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05EE-09BB-42F6-92ED-32819A4AE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6518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F49C-B38B-4102-9328-082EB92AC7D2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05EE-09BB-42F6-92ED-32819A4AE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0769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8F49C-B38B-4102-9328-082EB92AC7D2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005EE-09BB-42F6-92ED-32819A4AEB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1303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087" y="584200"/>
            <a:ext cx="7034325" cy="5708650"/>
          </a:xfrm>
          <a:prstGeom prst="rect">
            <a:avLst/>
          </a:prstGeom>
        </p:spPr>
      </p:pic>
      <p:sp>
        <p:nvSpPr>
          <p:cNvPr id="4" name="Овал 3"/>
          <p:cNvSpPr/>
          <p:nvPr/>
        </p:nvSpPr>
        <p:spPr>
          <a:xfrm>
            <a:off x="3358046" y="1175613"/>
            <a:ext cx="668104" cy="3105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 стрелкой 4"/>
          <p:cNvCxnSpPr/>
          <p:nvPr/>
        </p:nvCxnSpPr>
        <p:spPr>
          <a:xfrm>
            <a:off x="3204042" y="1079359"/>
            <a:ext cx="822108" cy="12884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8222661" y="2238196"/>
            <a:ext cx="2015706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dirty="0" smtClean="0"/>
              <a:t>Выберем нужные ключи</a:t>
            </a:r>
          </a:p>
          <a:p>
            <a:pPr algn="ctr"/>
            <a:r>
              <a:rPr lang="ru-RU" dirty="0" smtClean="0"/>
              <a:t>во вкладке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Switches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14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19" y="345347"/>
            <a:ext cx="7748338" cy="6045348"/>
          </a:xfrm>
          <a:prstGeom prst="rect">
            <a:avLst/>
          </a:prstGeom>
        </p:spPr>
      </p:pic>
      <p:sp>
        <p:nvSpPr>
          <p:cNvPr id="3" name="Овал 2"/>
          <p:cNvSpPr/>
          <p:nvPr/>
        </p:nvSpPr>
        <p:spPr>
          <a:xfrm>
            <a:off x="2117557" y="962526"/>
            <a:ext cx="540186" cy="26375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" name="Прямая со стрелкой 3"/>
          <p:cNvCxnSpPr/>
          <p:nvPr/>
        </p:nvCxnSpPr>
        <p:spPr>
          <a:xfrm>
            <a:off x="4695957" y="924025"/>
            <a:ext cx="1387209" cy="12801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8222661" y="1343047"/>
            <a:ext cx="2015706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dirty="0" smtClean="0"/>
              <a:t>Выберем резисторы</a:t>
            </a:r>
          </a:p>
          <a:p>
            <a:pPr algn="ctr"/>
            <a:r>
              <a:rPr lang="ru-RU" dirty="0" smtClean="0"/>
              <a:t>во вкладке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Basic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0089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107" y="437758"/>
            <a:ext cx="7825339" cy="6253346"/>
          </a:xfrm>
          <a:prstGeom prst="rect">
            <a:avLst/>
          </a:prstGeom>
        </p:spPr>
      </p:pic>
      <p:sp>
        <p:nvSpPr>
          <p:cNvPr id="3" name="Овал 2"/>
          <p:cNvSpPr/>
          <p:nvPr/>
        </p:nvSpPr>
        <p:spPr>
          <a:xfrm>
            <a:off x="2151107" y="1078029"/>
            <a:ext cx="540186" cy="26375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" name="Прямая со стрелкой 3"/>
          <p:cNvCxnSpPr/>
          <p:nvPr/>
        </p:nvCxnSpPr>
        <p:spPr>
          <a:xfrm>
            <a:off x="2886408" y="943275"/>
            <a:ext cx="155175" cy="33399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8152597" y="1554803"/>
            <a:ext cx="2432279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dirty="0" smtClean="0"/>
              <a:t>Источник ЭДС в 10 В</a:t>
            </a:r>
          </a:p>
          <a:p>
            <a:pPr algn="ctr"/>
            <a:r>
              <a:rPr lang="ru-RU" dirty="0" smtClean="0"/>
              <a:t>Из вкладки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Basic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198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313" y="312068"/>
            <a:ext cx="7267074" cy="6214076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8527982" y="1506677"/>
            <a:ext cx="2432279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dirty="0" smtClean="0"/>
              <a:t>Амперметр и Вольтметр </a:t>
            </a:r>
          </a:p>
          <a:p>
            <a:pPr algn="ctr"/>
            <a:r>
              <a:rPr lang="ru-RU" dirty="0"/>
              <a:t>и</a:t>
            </a:r>
            <a:r>
              <a:rPr lang="ru-RU" dirty="0" smtClean="0"/>
              <a:t>з вкладки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Basic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2401364" y="952900"/>
            <a:ext cx="540186" cy="26375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 стрелкой 4"/>
          <p:cNvCxnSpPr/>
          <p:nvPr/>
        </p:nvCxnSpPr>
        <p:spPr>
          <a:xfrm>
            <a:off x="4129238" y="952900"/>
            <a:ext cx="1039528" cy="31763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>
            <a:off x="4466122" y="952900"/>
            <a:ext cx="1171" cy="33066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4831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684" y="389372"/>
            <a:ext cx="7176584" cy="6243213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8563128" y="1429675"/>
            <a:ext cx="2432279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dirty="0" smtClean="0"/>
              <a:t>Операционный усилитель с обратной связью</a:t>
            </a:r>
          </a:p>
          <a:p>
            <a:pPr algn="ctr"/>
            <a:r>
              <a:rPr lang="ru-RU" dirty="0" smtClean="0"/>
              <a:t>из вкладки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Semiconductors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4441919" y="1020277"/>
            <a:ext cx="1005979" cy="27913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 стрелкой 4"/>
          <p:cNvCxnSpPr/>
          <p:nvPr/>
        </p:nvCxnSpPr>
        <p:spPr>
          <a:xfrm>
            <a:off x="3277408" y="856648"/>
            <a:ext cx="3758659" cy="431211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9237852" y="3691438"/>
            <a:ext cx="2432279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dirty="0" smtClean="0"/>
              <a:t>Две одинаковые батареи в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Sour</a:t>
            </a:r>
            <a:r>
              <a:rPr lang="ru-RU" b="1" dirty="0" smtClean="0">
                <a:solidFill>
                  <a:srgbClr val="FF0000"/>
                </a:solidFill>
              </a:rPr>
              <a:t>с</a:t>
            </a:r>
            <a:r>
              <a:rPr lang="en-US" b="1" dirty="0" err="1" smtClean="0">
                <a:solidFill>
                  <a:srgbClr val="FF0000"/>
                </a:solidFill>
              </a:rPr>
              <a:t>es</a:t>
            </a:r>
            <a:endParaRPr lang="ru-RU" b="1" dirty="0" smtClean="0">
              <a:solidFill>
                <a:srgbClr val="FF0000"/>
              </a:solidFill>
            </a:endParaRPr>
          </a:p>
          <a:p>
            <a:pPr algn="ctr"/>
            <a:r>
              <a:rPr lang="ru-RU" b="1" dirty="0" smtClean="0">
                <a:solidFill>
                  <a:schemeClr val="tx1"/>
                </a:solidFill>
              </a:rPr>
              <a:t>Для работы </a:t>
            </a:r>
            <a:r>
              <a:rPr lang="ru-RU" b="1" dirty="0" smtClean="0">
                <a:solidFill>
                  <a:srgbClr val="FF0000"/>
                </a:solidFill>
              </a:rPr>
              <a:t>ОУ</a:t>
            </a:r>
            <a:endParaRPr lang="ru-RU" b="1" dirty="0">
              <a:solidFill>
                <a:srgbClr val="FF0000"/>
              </a:solidFill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 flipH="1">
            <a:off x="7757563" y="4014603"/>
            <a:ext cx="2117957" cy="74027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flipH="1">
            <a:off x="7881051" y="4109987"/>
            <a:ext cx="1994469" cy="17524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4628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619" y="1449421"/>
            <a:ext cx="11027108" cy="4649821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3087869" y="959775"/>
            <a:ext cx="6372607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Соберем схему ЦАП в среде </a:t>
            </a:r>
            <a:r>
              <a:rPr lang="en-US" b="1" dirty="0" smtClean="0">
                <a:solidFill>
                  <a:srgbClr val="FF0000"/>
                </a:solidFill>
              </a:rPr>
              <a:t>TINA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737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088" y="1157898"/>
            <a:ext cx="10729150" cy="5380307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3040581" y="587155"/>
            <a:ext cx="6372607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Пронаблюдаем, как ЦАП преобразует цифровой код(подаваемый на входы </a:t>
            </a:r>
            <a:r>
              <a:rPr lang="en-US" b="1" dirty="0" smtClean="0">
                <a:solidFill>
                  <a:srgbClr val="FF0000"/>
                </a:solidFill>
              </a:rPr>
              <a:t>SW1-SW8) </a:t>
            </a:r>
            <a:r>
              <a:rPr lang="ru-RU" b="1" dirty="0" smtClean="0">
                <a:solidFill>
                  <a:srgbClr val="FF0000"/>
                </a:solidFill>
              </a:rPr>
              <a:t>в аналоговый сигнал</a:t>
            </a:r>
          </a:p>
          <a:p>
            <a:pPr algn="ctr"/>
            <a:r>
              <a:rPr lang="ru-RU" b="1" dirty="0" smtClean="0">
                <a:solidFill>
                  <a:srgbClr val="FF0000"/>
                </a:solidFill>
              </a:rPr>
              <a:t>(напряжение на вольтметре </a:t>
            </a:r>
            <a:r>
              <a:rPr lang="en-US" b="1" dirty="0" smtClean="0">
                <a:solidFill>
                  <a:srgbClr val="FF0000"/>
                </a:solidFill>
              </a:rPr>
              <a:t>U</a:t>
            </a:r>
            <a:r>
              <a:rPr lang="ru-RU" b="1" dirty="0" err="1" smtClean="0">
                <a:solidFill>
                  <a:srgbClr val="FF0000"/>
                </a:solidFill>
              </a:rPr>
              <a:t>вых</a:t>
            </a:r>
            <a:r>
              <a:rPr lang="ru-RU" b="1" dirty="0" smtClean="0">
                <a:solidFill>
                  <a:srgbClr val="FF0000"/>
                </a:solidFill>
              </a:rPr>
              <a:t>)</a:t>
            </a:r>
            <a:endParaRPr lang="ru-RU" b="1" dirty="0">
              <a:solidFill>
                <a:srgbClr val="FF0000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 flipV="1">
            <a:off x="1776556" y="5070764"/>
            <a:ext cx="3424844" cy="831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 flipV="1">
            <a:off x="1844045" y="3275217"/>
            <a:ext cx="1431170" cy="16483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Овал 10"/>
          <p:cNvSpPr/>
          <p:nvPr/>
        </p:nvSpPr>
        <p:spPr>
          <a:xfrm>
            <a:off x="5955189" y="2973678"/>
            <a:ext cx="543389" cy="49020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6549663" y="2971923"/>
            <a:ext cx="543389" cy="49020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>
            <a:off x="5400614" y="2970661"/>
            <a:ext cx="543389" cy="49020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/>
          <p:cNvSpPr/>
          <p:nvPr/>
        </p:nvSpPr>
        <p:spPr>
          <a:xfrm>
            <a:off x="4904509" y="2970661"/>
            <a:ext cx="543389" cy="49020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/>
          <p:cNvSpPr/>
          <p:nvPr/>
        </p:nvSpPr>
        <p:spPr>
          <a:xfrm>
            <a:off x="4369049" y="2970661"/>
            <a:ext cx="543389" cy="49020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/>
          <p:cNvSpPr/>
          <p:nvPr/>
        </p:nvSpPr>
        <p:spPr>
          <a:xfrm>
            <a:off x="3880873" y="2970661"/>
            <a:ext cx="543389" cy="49020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/>
          <p:cNvSpPr/>
          <p:nvPr/>
        </p:nvSpPr>
        <p:spPr>
          <a:xfrm>
            <a:off x="3410148" y="2970661"/>
            <a:ext cx="543389" cy="49020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/>
          <p:cNvSpPr/>
          <p:nvPr/>
        </p:nvSpPr>
        <p:spPr>
          <a:xfrm>
            <a:off x="2945589" y="2971923"/>
            <a:ext cx="543389" cy="49020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564" y="5964048"/>
            <a:ext cx="1395794" cy="201802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306" y="5762246"/>
            <a:ext cx="1395794" cy="201802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1956" y="5737225"/>
            <a:ext cx="4202144" cy="226823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919" y="5649819"/>
            <a:ext cx="855695" cy="30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200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008063"/>
            <a:ext cx="10342562" cy="5186446"/>
          </a:xfrm>
          <a:prstGeom prst="rect">
            <a:avLst/>
          </a:prstGeom>
        </p:spPr>
      </p:pic>
      <p:sp>
        <p:nvSpPr>
          <p:cNvPr id="3" name="Овал 2"/>
          <p:cNvSpPr/>
          <p:nvPr/>
        </p:nvSpPr>
        <p:spPr>
          <a:xfrm>
            <a:off x="2069690" y="2201902"/>
            <a:ext cx="1068146" cy="49020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" name="Прямая со стрелкой 3"/>
          <p:cNvCxnSpPr/>
          <p:nvPr/>
        </p:nvCxnSpPr>
        <p:spPr>
          <a:xfrm flipV="1">
            <a:off x="1607419" y="2800953"/>
            <a:ext cx="462271" cy="202130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flipV="1">
            <a:off x="1526300" y="4931100"/>
            <a:ext cx="3738719" cy="831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300" y="5625086"/>
            <a:ext cx="1323580" cy="19136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9066" y="5423284"/>
            <a:ext cx="1395794" cy="201802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305" y="5372331"/>
            <a:ext cx="4039161" cy="25275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1293" y="5323076"/>
            <a:ext cx="855695" cy="30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449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348" y="972766"/>
            <a:ext cx="9671306" cy="4961106"/>
          </a:xfrm>
          <a:prstGeom prst="rect">
            <a:avLst/>
          </a:prstGeom>
        </p:spPr>
      </p:pic>
      <p:sp>
        <p:nvSpPr>
          <p:cNvPr id="3" name="Овал 2"/>
          <p:cNvSpPr/>
          <p:nvPr/>
        </p:nvSpPr>
        <p:spPr>
          <a:xfrm>
            <a:off x="5146261" y="846666"/>
            <a:ext cx="712672" cy="4738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" name="Прямая со стрелкой 3"/>
          <p:cNvCxnSpPr/>
          <p:nvPr/>
        </p:nvCxnSpPr>
        <p:spPr>
          <a:xfrm flipV="1">
            <a:off x="2005352" y="1320509"/>
            <a:ext cx="3140909" cy="36118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1721033" y="5049957"/>
            <a:ext cx="110683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399" y="5543374"/>
            <a:ext cx="1187355" cy="17166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494" y="5341310"/>
            <a:ext cx="1269722" cy="18357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914" y="5243957"/>
            <a:ext cx="848347" cy="299417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331" y="5304598"/>
            <a:ext cx="4206801" cy="17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751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/>
          <p:cNvCxnSpPr/>
          <p:nvPr/>
        </p:nvCxnSpPr>
        <p:spPr>
          <a:xfrm flipV="1">
            <a:off x="1526300" y="4931100"/>
            <a:ext cx="3738719" cy="831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96" y="874641"/>
            <a:ext cx="10397561" cy="5333654"/>
          </a:xfrm>
          <a:prstGeom prst="rect">
            <a:avLst/>
          </a:prstGeom>
        </p:spPr>
      </p:pic>
      <p:cxnSp>
        <p:nvCxnSpPr>
          <p:cNvPr id="4" name="Прямая соединительная линия 3"/>
          <p:cNvCxnSpPr/>
          <p:nvPr/>
        </p:nvCxnSpPr>
        <p:spPr>
          <a:xfrm flipV="1">
            <a:off x="990404" y="5408514"/>
            <a:ext cx="3596033" cy="1229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990404" y="5623351"/>
            <a:ext cx="2300633" cy="464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3002583" y="339027"/>
            <a:ext cx="6372607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Установим при помощи ключей на вход ЦАП код 00000000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6529716" y="4077148"/>
            <a:ext cx="873538" cy="88053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Овал 9"/>
          <p:cNvSpPr/>
          <p:nvPr/>
        </p:nvSpPr>
        <p:spPr>
          <a:xfrm>
            <a:off x="9531638" y="4058878"/>
            <a:ext cx="1263392" cy="88053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5920" y="5473642"/>
            <a:ext cx="848347" cy="299417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267" y="5566966"/>
            <a:ext cx="1395794" cy="201802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404" y="5729639"/>
            <a:ext cx="1269722" cy="183575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2531" y="5560827"/>
            <a:ext cx="4206801" cy="17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997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173" y="818148"/>
            <a:ext cx="10230206" cy="5265018"/>
          </a:xfrm>
          <a:prstGeom prst="rect">
            <a:avLst/>
          </a:prstGeom>
        </p:spPr>
      </p:pic>
      <p:cxnSp>
        <p:nvCxnSpPr>
          <p:cNvPr id="3" name="Прямая соединительная линия 2"/>
          <p:cNvCxnSpPr/>
          <p:nvPr/>
        </p:nvCxnSpPr>
        <p:spPr>
          <a:xfrm flipV="1">
            <a:off x="1365789" y="5611528"/>
            <a:ext cx="3812603" cy="2103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flipV="1">
            <a:off x="1288787" y="5851718"/>
            <a:ext cx="4909882" cy="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 flipV="1">
            <a:off x="1703672" y="3108961"/>
            <a:ext cx="1049153" cy="229081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flipV="1">
            <a:off x="1578543" y="3108961"/>
            <a:ext cx="1607419" cy="25025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 flipV="1">
            <a:off x="1578543" y="3108961"/>
            <a:ext cx="2050181" cy="25025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/>
        </p:nvSpPr>
        <p:spPr>
          <a:xfrm>
            <a:off x="4723772" y="1051296"/>
            <a:ext cx="6372607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Установим при помощи ключей на вход ЦАП код </a:t>
            </a:r>
            <a:r>
              <a:rPr lang="ru-RU" b="1" dirty="0" smtClean="0">
                <a:solidFill>
                  <a:srgbClr val="FF0000"/>
                </a:solidFill>
              </a:rPr>
              <a:t>00000111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6537158" y="1536487"/>
            <a:ext cx="4559221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Заметим, младшие разряды имеют большее сопротивление</a:t>
            </a:r>
          </a:p>
          <a:p>
            <a:pPr algn="ctr"/>
            <a:r>
              <a:rPr lang="ru-RU" b="1" dirty="0" smtClean="0">
                <a:solidFill>
                  <a:srgbClr val="FF0000"/>
                </a:solidFill>
              </a:rPr>
              <a:t>резисторов</a:t>
            </a:r>
            <a:endParaRPr lang="ru-RU" b="1" dirty="0">
              <a:solidFill>
                <a:srgbClr val="FF0000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352" y="5399773"/>
            <a:ext cx="1395794" cy="201802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031" y="5644803"/>
            <a:ext cx="1216836" cy="175928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666" y="5399772"/>
            <a:ext cx="4020534" cy="201803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8759" y="5277521"/>
            <a:ext cx="848347" cy="29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818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275" y="654518"/>
            <a:ext cx="10653617" cy="5482928"/>
          </a:xfrm>
          <a:prstGeom prst="rect">
            <a:avLst/>
          </a:prstGeom>
        </p:spPr>
      </p:pic>
      <p:cxnSp>
        <p:nvCxnSpPr>
          <p:cNvPr id="3" name="Прямая соединительная линия 2"/>
          <p:cNvCxnSpPr/>
          <p:nvPr/>
        </p:nvCxnSpPr>
        <p:spPr>
          <a:xfrm flipV="1">
            <a:off x="6515304" y="5419023"/>
            <a:ext cx="3812603" cy="2103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/>
          <p:cNvCxnSpPr/>
          <p:nvPr/>
        </p:nvCxnSpPr>
        <p:spPr>
          <a:xfrm flipV="1">
            <a:off x="6515304" y="5630779"/>
            <a:ext cx="4390119" cy="2103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/>
          <p:cNvCxnSpPr/>
          <p:nvPr/>
        </p:nvCxnSpPr>
        <p:spPr>
          <a:xfrm flipV="1">
            <a:off x="6583680" y="4523874"/>
            <a:ext cx="3638349" cy="8951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flipV="1">
            <a:off x="6515304" y="4726004"/>
            <a:ext cx="732519" cy="7140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6537158" y="1536487"/>
            <a:ext cx="4559221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Коэффициент усиления ОУ </a:t>
            </a:r>
            <a:r>
              <a:rPr lang="ru-RU" b="1" dirty="0" smtClean="0">
                <a:solidFill>
                  <a:srgbClr val="FF0000"/>
                </a:solidFill>
              </a:rPr>
              <a:t>изменился</a:t>
            </a:r>
            <a:endParaRPr lang="ru-RU" b="1" dirty="0" smtClean="0">
              <a:solidFill>
                <a:srgbClr val="FF0000"/>
              </a:solidFill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6298" y="5651811"/>
            <a:ext cx="1328490" cy="26161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5440058"/>
            <a:ext cx="4203700" cy="208014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6369" y="5630779"/>
            <a:ext cx="848347" cy="29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695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057399" y="1286230"/>
            <a:ext cx="8478252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Продолжая вводить двоичные коды на вход ЦАП, заполним таблицу,</a:t>
            </a:r>
          </a:p>
          <a:p>
            <a:pPr algn="ctr"/>
            <a:r>
              <a:rPr lang="ru-RU" b="1" dirty="0">
                <a:solidFill>
                  <a:srgbClr val="FF0000"/>
                </a:solidFill>
              </a:rPr>
              <a:t>с</a:t>
            </a:r>
            <a:r>
              <a:rPr lang="ru-RU" b="1" dirty="0" smtClean="0">
                <a:solidFill>
                  <a:srgbClr val="FF0000"/>
                </a:solidFill>
              </a:rPr>
              <a:t>нимая показания амперметра, </a:t>
            </a:r>
            <a:r>
              <a:rPr lang="ru-RU" b="1" dirty="0" smtClean="0">
                <a:solidFill>
                  <a:srgbClr val="FF0000"/>
                </a:solidFill>
              </a:rPr>
              <a:t>вольтметра</a:t>
            </a:r>
            <a:endParaRPr lang="ru-RU" b="1" dirty="0">
              <a:solidFill>
                <a:srgbClr val="FF000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478" y="2229907"/>
            <a:ext cx="7115175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546" y="2438284"/>
            <a:ext cx="7367589" cy="2939145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633888" y="1045598"/>
            <a:ext cx="8478252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Заметим,</a:t>
            </a:r>
            <a:r>
              <a:rPr lang="ru-RU" dirty="0"/>
              <a:t> При присоединении источника напряжения и замыкании ключей, через каждый резистор </a:t>
            </a:r>
            <a:r>
              <a:rPr lang="ru-RU" dirty="0" smtClean="0"/>
              <a:t>течет ток. Токи через резисторы, </a:t>
            </a:r>
            <a:r>
              <a:rPr lang="ru-RU" dirty="0"/>
              <a:t>пропорциональные </a:t>
            </a:r>
            <a:r>
              <a:rPr lang="ru-RU" dirty="0" smtClean="0"/>
              <a:t>весам  разрядов </a:t>
            </a:r>
            <a:r>
              <a:rPr lang="ru-RU" dirty="0"/>
              <a:t>и величина вытекающего из узла тока в целом будет пропорциональна значению входного кода </a:t>
            </a:r>
            <a:r>
              <a:rPr lang="ru-RU" i="1" dirty="0" err="1"/>
              <a:t>N</a:t>
            </a:r>
            <a:r>
              <a:rPr lang="ru-RU" i="1" baseline="-25000" dirty="0" err="1"/>
              <a:t>вх</a:t>
            </a:r>
            <a:r>
              <a:rPr lang="ru-RU" dirty="0"/>
              <a:t>.</a:t>
            </a:r>
            <a:endParaRPr lang="ru-RU" b="1" dirty="0">
              <a:solidFill>
                <a:srgbClr val="FF0000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 flipV="1">
            <a:off x="2132546" y="4929306"/>
            <a:ext cx="7162194" cy="17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5226518" y="3907857"/>
            <a:ext cx="2128610" cy="388569"/>
          </a:xfrm>
          <a:prstGeom prst="ellipse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Овал 6"/>
          <p:cNvSpPr/>
          <p:nvPr/>
        </p:nvSpPr>
        <p:spPr>
          <a:xfrm>
            <a:off x="5226518" y="4296426"/>
            <a:ext cx="2128610" cy="322114"/>
          </a:xfrm>
          <a:prstGeom prst="ellipse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/>
          <p:cNvSpPr/>
          <p:nvPr/>
        </p:nvSpPr>
        <p:spPr>
          <a:xfrm>
            <a:off x="5226518" y="4606657"/>
            <a:ext cx="2128610" cy="322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6487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523" y="1481337"/>
            <a:ext cx="9124950" cy="393382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t="21477" r="4622"/>
          <a:stretch/>
        </p:blipFill>
        <p:spPr>
          <a:xfrm>
            <a:off x="1456523" y="2743200"/>
            <a:ext cx="7839877" cy="257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551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887" y="2729413"/>
            <a:ext cx="7896225" cy="3629025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643513" y="1021945"/>
            <a:ext cx="8478252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Таким образом,</a:t>
            </a:r>
            <a:r>
              <a:rPr lang="ru-RU" dirty="0" smtClean="0"/>
              <a:t> </a:t>
            </a:r>
            <a:r>
              <a:rPr lang="ru-RU" dirty="0"/>
              <a:t>Цифроаналоговый преобразователь (ЦАП) преобразует цифровую информацию в </a:t>
            </a:r>
            <a:r>
              <a:rPr lang="ru-RU" dirty="0" smtClean="0"/>
              <a:t>аналоговую</a:t>
            </a:r>
            <a:r>
              <a:rPr lang="ru-RU" dirty="0"/>
              <a:t> В цифровой технике информация существует чаще всего в бинарном </a:t>
            </a:r>
            <a:r>
              <a:rPr lang="ru-RU" dirty="0" smtClean="0"/>
              <a:t>виде</a:t>
            </a:r>
            <a:r>
              <a:rPr lang="ru-RU" dirty="0"/>
              <a:t>, который кодируется по определенному коду</a:t>
            </a:r>
            <a:r>
              <a:rPr lang="ru-RU" dirty="0" smtClean="0"/>
              <a:t>.</a:t>
            </a:r>
          </a:p>
          <a:p>
            <a:pPr algn="ctr"/>
            <a:r>
              <a:rPr lang="ru-RU" b="1" dirty="0" smtClean="0">
                <a:solidFill>
                  <a:srgbClr val="FF0000"/>
                </a:solidFill>
              </a:rPr>
              <a:t>Каждому бинарному коду соответствует свое </a:t>
            </a:r>
            <a:r>
              <a:rPr lang="ru-RU" b="1" dirty="0" err="1" smtClean="0">
                <a:solidFill>
                  <a:srgbClr val="FF0000"/>
                </a:solidFill>
              </a:rPr>
              <a:t>напржение</a:t>
            </a:r>
            <a:r>
              <a:rPr lang="ru-RU" b="1" dirty="0" smtClean="0">
                <a:solidFill>
                  <a:srgbClr val="FF0000"/>
                </a:solidFill>
              </a:rPr>
              <a:t> (свой аналоговый эквивалент)</a:t>
            </a:r>
            <a:endParaRPr lang="ru-RU" b="1" dirty="0">
              <a:solidFill>
                <a:srgbClr val="FF0000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t="21477" r="4622"/>
          <a:stretch/>
        </p:blipFill>
        <p:spPr>
          <a:xfrm>
            <a:off x="2281888" y="3344333"/>
            <a:ext cx="7839877" cy="257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39472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193</Words>
  <Application>Microsoft Office PowerPoint</Application>
  <PresentationFormat>Широкоэкранный</PresentationFormat>
  <Paragraphs>31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Anastasya</dc:creator>
  <cp:lastModifiedBy>Anastasya</cp:lastModifiedBy>
  <cp:revision>27</cp:revision>
  <dcterms:created xsi:type="dcterms:W3CDTF">2021-05-08T09:19:12Z</dcterms:created>
  <dcterms:modified xsi:type="dcterms:W3CDTF">2021-05-12T08:05:38Z</dcterms:modified>
</cp:coreProperties>
</file>